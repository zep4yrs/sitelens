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582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开场 </a:t>
            </a:r>
            <a:r>
              <a:rPr lang="en-US" altLang="zh-CN"/>
              <a:t>30 </a:t>
            </a:r>
            <a:r>
              <a:rPr lang="zh-CN" altLang="en-US"/>
              <a:t>秒：一句话介绍小组与选题</a:t>
            </a:r>
            <a:r>
              <a:rPr lang="en-US" altLang="zh-CN"/>
              <a:t>——</a:t>
            </a:r>
            <a:r>
              <a:rPr lang="zh-CN" altLang="en-US"/>
              <a:t>面向信息安全专业的验证型 </a:t>
            </a:r>
            <a:r>
              <a:rPr lang="en-US" altLang="zh-CN"/>
              <a:t>Web </a:t>
            </a:r>
            <a:r>
              <a:rPr lang="zh-CN" altLang="en-US"/>
              <a:t>漏洞扫描器，强调「本地运行、真实可用」。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汇报结构 </a:t>
            </a:r>
            <a:r>
              <a:rPr lang="en-US" altLang="zh-CN"/>
              <a:t>10 </a:t>
            </a:r>
            <a:r>
              <a:rPr lang="zh-CN" altLang="en-US"/>
              <a:t>秒带过：背景、设计实现、测试、总结四部分，重点在第二、三部分。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背景讲两个痛点：组件拼装导致攻击面碎片化；情报增长快过人工记忆。考核目标逐条对应：四大特性 </a:t>
            </a:r>
            <a:r>
              <a:rPr lang="en-US" altLang="zh-CN"/>
              <a:t>+ </a:t>
            </a:r>
            <a:r>
              <a:rPr lang="zh-CN" altLang="en-US"/>
              <a:t>两个爬虫库。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系统定位：先看清、再验证、后定论。底部五个数字全部是库内实测值，可现场打开系统核对。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界面预览：三屏对应指纹识别、结果呈现、资产管理三件事，预告现场演示路线。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细节放大页：左完整右特写</a:t>
            </a:r>
            <a:r>
              <a:rPr lang="en-US" altLang="zh-CN"/>
              <a:t>——</a:t>
            </a:r>
            <a:r>
              <a:rPr lang="zh-CN" altLang="en-US"/>
              <a:t>高亮框框住情报关联表，放大看严重度徽章与确认受影响 </a:t>
            </a:r>
            <a:r>
              <a:rPr lang="en-US" altLang="zh-CN"/>
              <a:t>CVE</a:t>
            </a:r>
            <a:r>
              <a:rPr lang="zh-CN" altLang="en-US"/>
              <a:t>；强调「结论与证据一一对应」。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架构 </a:t>
            </a:r>
            <a:r>
              <a:rPr lang="en-US" altLang="zh-CN"/>
              <a:t>40 </a:t>
            </a:r>
            <a:r>
              <a:rPr lang="zh-CN" altLang="en-US"/>
              <a:t>秒：四层职责一句话一层；强调核心层八个模块高内聚、异步队列解耦。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类图页：四大特性一张图讲清</a:t>
            </a:r>
            <a:r>
              <a:rPr lang="en-US" altLang="zh-CN"/>
              <a:t>——</a:t>
            </a:r>
            <a:r>
              <a:rPr lang="zh-CN" altLang="en-US"/>
              <a:t>封装受控写入、继承 </a:t>
            </a:r>
            <a:r>
              <a:rPr lang="en-US" altLang="zh-CN"/>
              <a:t>7 </a:t>
            </a:r>
            <a:r>
              <a:rPr lang="zh-CN" altLang="en-US"/>
              <a:t>子类、多态零改引擎、组合根持有四组件。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数据库：九张表知识库与结果分离；强调 </a:t>
            </a:r>
            <a:r>
              <a:rPr lang="en-US" altLang="zh-CN"/>
              <a:t>trgm </a:t>
            </a:r>
            <a:r>
              <a:rPr lang="zh-CN" altLang="en-US"/>
              <a:t>索引 </a:t>
            </a:r>
            <a:r>
              <a:rPr lang="en-US" altLang="zh-CN"/>
              <a:t>+ </a:t>
            </a:r>
            <a:r>
              <a:rPr lang="zh-CN" altLang="en-US"/>
              <a:t>语义向量的检索底座与全参数绑定。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OO </a:t>
            </a:r>
            <a:r>
              <a:rPr lang="zh-CN" altLang="en-US"/>
              <a:t>设计是 </a:t>
            </a:r>
            <a:r>
              <a:rPr lang="en-US" altLang="zh-CN"/>
              <a:t>30 </a:t>
            </a:r>
            <a:r>
              <a:rPr lang="zh-CN" altLang="en-US"/>
              <a:t>分评分点：四大特性各举一个真实落点，重点讲「新增检测器零改引擎」的扩展性验证。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爬虫技术是 </a:t>
            </a:r>
            <a:r>
              <a:rPr lang="en-US" altLang="zh-CN"/>
              <a:t>30 </a:t>
            </a:r>
            <a:r>
              <a:rPr lang="zh-CN" altLang="en-US"/>
              <a:t>分评分点：</a:t>
            </a:r>
            <a:r>
              <a:rPr lang="en-US" altLang="zh-CN"/>
              <a:t>requests </a:t>
            </a:r>
            <a:r>
              <a:rPr lang="zh-CN" altLang="en-US"/>
              <a:t>会话、</a:t>
            </a:r>
            <a:r>
              <a:rPr lang="en-US" altLang="zh-CN"/>
              <a:t>BeautifulSoup </a:t>
            </a:r>
            <a:r>
              <a:rPr lang="zh-CN" altLang="en-US"/>
              <a:t>解析、</a:t>
            </a:r>
            <a:r>
              <a:rPr lang="en-US" altLang="zh-CN"/>
              <a:t>BFS </a:t>
            </a:r>
            <a:r>
              <a:rPr lang="zh-CN" altLang="en-US"/>
              <a:t>爬取、</a:t>
            </a:r>
            <a:r>
              <a:rPr lang="en-US" altLang="zh-CN"/>
              <a:t>SSRF </a:t>
            </a:r>
            <a:r>
              <a:rPr lang="zh-CN" altLang="en-US"/>
              <a:t>防护四块，强调限速与身份标识。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指纹识别：</a:t>
            </a:r>
            <a:r>
              <a:rPr lang="en-US" altLang="zh-CN"/>
              <a:t>2850 </a:t>
            </a:r>
            <a:r>
              <a:rPr lang="zh-CN" altLang="en-US"/>
              <a:t>指纹 </a:t>
            </a:r>
            <a:r>
              <a:rPr lang="en-US" altLang="zh-CN"/>
              <a:t>×78 </a:t>
            </a:r>
            <a:r>
              <a:rPr lang="zh-CN" altLang="en-US"/>
              <a:t>类别 </a:t>
            </a:r>
            <a:r>
              <a:rPr lang="en-US" altLang="zh-CN"/>
              <a:t>×7 </a:t>
            </a:r>
            <a:r>
              <a:rPr lang="zh-CN" altLang="en-US"/>
              <a:t>检测器；单页匹配低于 </a:t>
            </a:r>
            <a:r>
              <a:rPr lang="en-US" altLang="zh-CN"/>
              <a:t>1 </a:t>
            </a:r>
            <a:r>
              <a:rPr lang="zh-CN" altLang="en-US"/>
              <a:t>秒；</a:t>
            </a:r>
            <a:r>
              <a:rPr lang="en-US" altLang="zh-CN"/>
              <a:t>Bundle </a:t>
            </a:r>
            <a:r>
              <a:rPr lang="zh-CN" altLang="en-US"/>
              <a:t>检测器补齐打包框架。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验证引擎：</a:t>
            </a:r>
            <a:r>
              <a:rPr lang="en-US" altLang="zh-CN"/>
              <a:t>2613 </a:t>
            </a:r>
            <a:r>
              <a:rPr lang="zh-CN" altLang="en-US"/>
              <a:t>模板 </a:t>
            </a:r>
            <a:r>
              <a:rPr lang="en-US" altLang="zh-CN"/>
              <a:t>MoE </a:t>
            </a:r>
            <a:r>
              <a:rPr lang="zh-CN" altLang="en-US"/>
              <a:t>三路调度 </a:t>
            </a:r>
            <a:r>
              <a:rPr lang="en-US" altLang="zh-CN"/>
              <a:t>+ </a:t>
            </a:r>
            <a:r>
              <a:rPr lang="zh-CN" altLang="en-US"/>
              <a:t>软 </a:t>
            </a:r>
            <a:r>
              <a:rPr lang="en-US" altLang="zh-CN"/>
              <a:t>404 </a:t>
            </a:r>
            <a:r>
              <a:rPr lang="zh-CN" altLang="en-US"/>
              <a:t>基线 </a:t>
            </a:r>
            <a:r>
              <a:rPr lang="en-US" altLang="zh-CN"/>
              <a:t>+ </a:t>
            </a:r>
            <a:r>
              <a:rPr lang="zh-CN" altLang="en-US"/>
              <a:t>二次确认；强调「命中才叫已验证」。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MoE </a:t>
            </a:r>
            <a:r>
              <a:rPr lang="zh-CN" altLang="en-US"/>
              <a:t>路由页：三路调度一张图讲清；漏斗数字（</a:t>
            </a:r>
            <a:r>
              <a:rPr lang="en-US" altLang="zh-CN"/>
              <a:t>11306→2613</a:t>
            </a:r>
            <a:r>
              <a:rPr lang="zh-CN" altLang="en-US"/>
              <a:t>）是对兼容生态最诚实的度量。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情报三级判定：确认 </a:t>
            </a:r>
            <a:r>
              <a:rPr lang="en-US" altLang="zh-CN"/>
              <a:t>/ </a:t>
            </a:r>
            <a:r>
              <a:rPr lang="zh-CN" altLang="en-US"/>
              <a:t>可能 </a:t>
            </a:r>
            <a:r>
              <a:rPr lang="en-US" altLang="zh-CN"/>
              <a:t>/ </a:t>
            </a:r>
            <a:r>
              <a:rPr lang="zh-CN" altLang="en-US"/>
              <a:t>排除；</a:t>
            </a:r>
            <a:r>
              <a:rPr lang="en-US" altLang="zh-CN"/>
              <a:t>KEV </a:t>
            </a:r>
            <a:r>
              <a:rPr lang="zh-CN" altLang="en-US"/>
              <a:t>红标；</a:t>
            </a:r>
            <a:r>
              <a:rPr lang="en-US" altLang="zh-CN"/>
              <a:t>1323 </a:t>
            </a:r>
            <a:r>
              <a:rPr lang="zh-CN" altLang="en-US"/>
              <a:t>条区间实测值；命中即红标提醒优先处置。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网络层检测：</a:t>
            </a:r>
            <a:r>
              <a:rPr lang="en-US" altLang="zh-CN"/>
              <a:t>TLS </a:t>
            </a:r>
            <a:r>
              <a:rPr lang="zh-CN" altLang="en-US"/>
              <a:t>六项 </a:t>
            </a:r>
            <a:r>
              <a:rPr lang="en-US" altLang="zh-CN"/>
              <a:t>+ </a:t>
            </a:r>
            <a:r>
              <a:rPr lang="zh-CN" altLang="en-US"/>
              <a:t>邮件安全 </a:t>
            </a:r>
            <a:r>
              <a:rPr lang="en-US" altLang="zh-CN"/>
              <a:t>+ </a:t>
            </a:r>
            <a:r>
              <a:rPr lang="zh-CN" altLang="en-US"/>
              <a:t>端口识别；强调轻触原则与 </a:t>
            </a:r>
            <a:r>
              <a:rPr lang="en-US" altLang="zh-CN"/>
              <a:t>GBK </a:t>
            </a:r>
            <a:r>
              <a:rPr lang="zh-CN" altLang="en-US"/>
              <a:t>解码缺陷修复。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源码审计：污点数据流模型</a:t>
            </a:r>
            <a:r>
              <a:rPr lang="en-US" altLang="zh-CN"/>
              <a:t>——source </a:t>
            </a:r>
            <a:r>
              <a:rPr lang="zh-CN" altLang="en-US"/>
              <a:t>经赋值拼接流向 </a:t>
            </a:r>
            <a:r>
              <a:rPr lang="en-US" altLang="zh-CN"/>
              <a:t>sink </a:t>
            </a:r>
            <a:r>
              <a:rPr lang="zh-CN" altLang="en-US"/>
              <a:t>即报高危；审计后即删。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登录爆破：宽容表单解析、验证码分级、</a:t>
            </a:r>
            <a:r>
              <a:rPr lang="en-US" altLang="zh-CN"/>
              <a:t>300 </a:t>
            </a:r>
            <a:r>
              <a:rPr lang="zh-CN" altLang="en-US"/>
              <a:t>次硬上限；强调授权门禁不勾选无法启动。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工作台：八个页面每个功能都有承载；四格式导出对应四种使用场景；</a:t>
            </a:r>
            <a:r>
              <a:rPr lang="en-US" altLang="zh-CN"/>
              <a:t>Token </a:t>
            </a:r>
            <a:r>
              <a:rPr lang="zh-CN" altLang="en-US"/>
              <a:t>鉴权。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工具对比：验证环节兼容 </a:t>
            </a:r>
            <a:r>
              <a:rPr lang="en-US" altLang="zh-CN"/>
              <a:t>Nuclei </a:t>
            </a:r>
            <a:r>
              <a:rPr lang="zh-CN" altLang="en-US"/>
              <a:t>生态，差异化在指纹、情报与资产沉淀</a:t>
            </a:r>
            <a:r>
              <a:rPr lang="en-US" altLang="zh-CN"/>
              <a:t>——</a:t>
            </a:r>
            <a:r>
              <a:rPr lang="zh-CN" altLang="en-US"/>
              <a:t>不重复造轮。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测试三层：</a:t>
            </a:r>
            <a:r>
              <a:rPr lang="en-US" altLang="zh-CN"/>
              <a:t>49 </a:t>
            </a:r>
            <a:r>
              <a:rPr lang="zh-CN" altLang="en-US"/>
              <a:t>单测 </a:t>
            </a:r>
            <a:r>
              <a:rPr lang="en-US" altLang="zh-CN"/>
              <a:t>+ 32 </a:t>
            </a:r>
            <a:r>
              <a:rPr lang="zh-CN" altLang="en-US"/>
              <a:t>冒烟全过；真实站点 </a:t>
            </a:r>
            <a:r>
              <a:rPr lang="en-US" altLang="zh-CN"/>
              <a:t>13 </a:t>
            </a:r>
            <a:r>
              <a:rPr lang="zh-CN" altLang="en-US"/>
              <a:t>项技术；讲一个典型缺陷的根因与修复。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合规是创新点：</a:t>
            </a:r>
            <a:r>
              <a:rPr lang="en-US" altLang="zh-CN"/>
              <a:t>SSRF </a:t>
            </a:r>
            <a:r>
              <a:rPr lang="zh-CN" altLang="en-US"/>
              <a:t>防护、礼貌访问、</a:t>
            </a:r>
            <a:r>
              <a:rPr lang="en-US" altLang="zh-CN"/>
              <a:t>POC </a:t>
            </a:r>
            <a:r>
              <a:rPr lang="zh-CN" altLang="en-US"/>
              <a:t>不落盘、授权门禁</a:t>
            </a:r>
            <a:r>
              <a:rPr lang="en-US" altLang="zh-CN"/>
              <a:t>——</a:t>
            </a:r>
            <a:r>
              <a:rPr lang="zh-CN" altLang="en-US"/>
              <a:t>安全工具的纪律写进代码。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致谢页：开源来源全部署名（</a:t>
            </a:r>
            <a:r>
              <a:rPr lang="en-US" altLang="zh-CN"/>
              <a:t>Nuclei/OSV/KEV/TscanPlus/afrog/xray</a:t>
            </a:r>
            <a:r>
              <a:rPr lang="zh-CN" altLang="en-US"/>
              <a:t>），</a:t>
            </a:r>
            <a:r>
              <a:rPr lang="en-US" altLang="zh-CN"/>
              <a:t>GB7714 </a:t>
            </a:r>
            <a:r>
              <a:rPr lang="zh-CN" altLang="en-US"/>
              <a:t>清单见报告。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总结如实：四个优点、四个不足、四条改进；主动承认边界是加分项。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收尾：请老师批评指正，预告现场演示路线。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55448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7400"/>
              </a:lnSpc>
              <a:buNone/>
            </a:pPr>
            <a:r>
              <a:rPr lang="en-US" sz="6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</a:t>
            </a:r>
            <a:endParaRPr lang="en-US" sz="6000" dirty="0"/>
          </a:p>
          <a:p>
            <a:pPr marL="0" indent="0">
              <a:lnSpc>
                <a:spcPts val="74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网站安全透视系统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3703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验证型 Web 漏洞扫描器 · 指纹识别 → 漏洞验证 → 情报关联 全链路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0" y="1572768"/>
            <a:ext cx="3913632" cy="2459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0" descr="D:/fengqiao/Desktop/26-08python实训/实训考核2/docs/build/img/ui_ind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4" y="1627632"/>
            <a:ext cx="3803904" cy="23500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5577840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2920" y="57424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信息工程学院 · 信息安全 2025 级（25 信安 1 班）    组长：王振宇    成员：乔占 高慧飞 徐涵 段抒含    </a:t>
            </a: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2026-09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汇报大纲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691640" y="1801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选题背景与考核目标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91640" y="225856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为什么做网站安全扫描器，对应哪些考核要求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91640" y="2752344"/>
            <a:ext cx="99943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02920" y="295351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691640" y="2971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系统设计与实现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91640" y="3429000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四层架构 · 面向对象四大特性 · 爬虫技术 · 核心模块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91640" y="3922776"/>
            <a:ext cx="99943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02920" y="412394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691640" y="4142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测试与验证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691640" y="459943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 项单测 + 32 项冒烟 + 真实站点实测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691640" y="5093208"/>
            <a:ext cx="999439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529437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1691640" y="53126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91640" y="5769864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成果、不足与改进方向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3" presetClass="entr" presetSubtype="16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选题背景与考核目标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为什么做这个系统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现代网站由数十种第三方组件拼装：框架、CDN、统计、支付…任一组件的历史漏洞都可能成为入侵入口</a:t>
            </a:r>
            <a:endParaRPr lang="en-US" sz="1350" dirty="0"/>
          </a:p>
          <a:p>
            <a:pPr marL="152400" indent="-152400">
              <a:lnSpc>
                <a:spcPts val="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全球漏洞情报每天新增数十条，人工翻源码、背 CVE 的评估方式效率低、易漏判</a:t>
            </a:r>
            <a:endParaRPr lang="en-US" sz="1350" dirty="0"/>
          </a:p>
          <a:p>
            <a:pPr marL="152400" indent="-152400">
              <a:lnSpc>
                <a:spcPts val="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信息安全专业需要一套真实可用的授权评估工具，而非演示玩具</a:t>
            </a:r>
            <a:endParaRPr lang="en-US" sz="1350" dirty="0"/>
          </a:p>
          <a:p>
            <a:pPr marL="152400" indent="-152400">
              <a:lnSpc>
                <a:spcPts val="2000"/>
              </a:lnSpc>
              <a:spcAft>
                <a:spcPts val="12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选题对应考核示例四「安全扫描器（综合）」并做了深度扩展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9496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对应课程考核要求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83680" y="25146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封装 / 继承 / 多态 / 组合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583680" y="2852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检测器继承体系 + 组合根引擎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34290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requests 爬虫技术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83680" y="3767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会话管理 · 限速 · BeautifulSoup 解析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43434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综合运用与扩展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83680" y="4681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PostgreSQL · 异步任务 · Web 工作台 · 导出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52578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合法合规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83680" y="5596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SSRF 防护 · 限速 · 仅限授权目标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系统定位：一次输入，完成一次安全评估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看清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被动指纹识别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03580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检测器 × 2850+ 指纹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响应头/Cookie/meta/DOM/脚本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2336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606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漏洞主动验证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54880" y="303580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2613 条社区模板 + 42 条无害检测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发请求证实，命中才叫已验证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0100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458200" y="1828800"/>
            <a:ext cx="352044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732520" y="21031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32520" y="260604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情报三级判定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32520" y="303580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版本区间比对 + KEV 红标</a:t>
            </a:r>
            <a:endParaRPr lang="en-US" sz="11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评分与中文修复建议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89204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结果全量存入本地 PostgreSQL：可检索、可对比、可导出 —— 结论逐条附原始证据，可人工复核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2920" y="5440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2850+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02920" y="6281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产品指纹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788920" y="5440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2613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2788920" y="6281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验证模板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74920" y="5440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11024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5074920" y="6281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漏洞情报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360920" y="5440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1695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7360920" y="6281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KEV 在野利用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46920" y="544068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49+32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9646920" y="6281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项测试全过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系统界面：真实运行实况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pic>
        <p:nvPicPr>
          <p:cNvPr id="6" name="Image 0" descr="D:/fengqiao/Desktop/26-08python实训/实训考核2/docs/build/img/ui_inde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" y="1783080"/>
            <a:ext cx="3566160" cy="2240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783080"/>
            <a:ext cx="3566160" cy="22402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502920" y="40599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 · 输入入口与实时统计</a:t>
            </a:r>
            <a:endParaRPr lang="en-US" sz="1150" dirty="0"/>
          </a:p>
        </p:txBody>
      </p:sp>
      <p:pic>
        <p:nvPicPr>
          <p:cNvPr id="9" name="Image 1" descr="D:/fengqiao/Desktop/26-08python实训/实训考核2/docs/build/img/ui_result_intel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25112" y="1783080"/>
            <a:ext cx="3566160" cy="22402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25112" y="1783080"/>
            <a:ext cx="3566160" cy="22402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7"/>
          <p:cNvSpPr/>
          <p:nvPr/>
        </p:nvSpPr>
        <p:spPr>
          <a:xfrm>
            <a:off x="4325112" y="40599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扫描结果 · 技术指纹按类别分组</a:t>
            </a:r>
            <a:endParaRPr lang="en-US" sz="1150" dirty="0"/>
          </a:p>
        </p:txBody>
      </p:sp>
      <p:pic>
        <p:nvPicPr>
          <p:cNvPr id="12" name="Image 2" descr="D:/fengqiao/Desktop/26-08python实训/实训考核2/docs/build/img/ui_history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47304" y="1783080"/>
            <a:ext cx="3566160" cy="224028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147304" y="1783080"/>
            <a:ext cx="3566160" cy="224028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9"/>
          <p:cNvSpPr/>
          <p:nvPr/>
        </p:nvSpPr>
        <p:spPr>
          <a:xfrm>
            <a:off x="8147304" y="405993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扫描历史 · 详情与四格式导出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502920" y="4663440"/>
            <a:ext cx="111831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777240" y="4846320"/>
            <a:ext cx="10634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现场演示路线  </a:t>
            </a:r>
            <a:r>
              <a:rPr lang="en-US" sz="13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输入授权网址 → 深度识别（约 15s）→ 技术清单与置信度 → 已验证漏洞 → 情报三级判定 → 安全响应头评分 → 一键导出宽表 CSV。全过程数据仅存于本地 PostgreSQL。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DETAIL ZOOM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结果页细节：每条结论都能放大了看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4663440" cy="293598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D:/fengqiao/Desktop/26-08python实训/实训考核2/docs/build/img/ui_result_int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828800"/>
            <a:ext cx="4663440" cy="29359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10032" y="3877163"/>
            <a:ext cx="3311520" cy="887624"/>
          </a:xfrm>
          <a:prstGeom prst="rect">
            <a:avLst/>
          </a:prstGeom>
          <a:solidFill>
            <a:srgbClr val="000000">
              <a:alpha val="0"/>
            </a:srgbClr>
          </a:solidFill>
          <a:ln w="2857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502920" y="4856227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完整扫描结果（已脱敏）· 蓝框区域见右侧放大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53492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设计要点  </a:t>
            </a: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高亮区域为漏洞情报关联表，右图为 1.9 倍放大：严重度徽章、确认受影响 CVE、来源双源标注逐行可读；每个分区都可展开原始证据，逐条人工复核。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696712" y="1828800"/>
            <a:ext cx="5989320" cy="1698003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2" name="Image 1" descr="D:/fengqiao/Desktop/26-08python实训/实训考核2/docs/build/img/detail_int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12" y="1828800"/>
            <a:ext cx="5989320" cy="16980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96712" y="3618243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漏洞情报关联：严重度徽章 · 确认受影响 CVE · 来源双源标注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274052" y="4029723"/>
            <a:ext cx="2834640" cy="272561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5" name="Image 2" descr="D:/fengqiao/Desktop/26-08python实训/实训考核2/docs/build/img/detail_badge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4052" y="4029723"/>
            <a:ext cx="2834640" cy="272561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99732" y="682849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组件徽章放大：识别证据逐项可读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 thruBlk="1"/>
      </p:transition>
    </mc:Choice>
    <mc:Fallback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47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4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15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35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54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687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34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950"/>
                            </p:stCondLst>
                            <p:childTnLst>
                              <p:par>
                                <p:cTn id="46" presetID="23" presetClass="entr" presetSubtype="16" fill="hold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8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374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770"/>
                            </p:stCondLst>
                            <p:childTnLst>
                              <p:par>
                                <p:cTn id="59" presetID="23" presetClass="entr" presetSubtype="16" fill="hold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809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总体架构：四层设计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展示层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51206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514600" y="178308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首页 · 扫描工作台 · 审计 · 批量 · 历史 · 情报库 · API 文档（零构建手写前端）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807208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02920" y="280720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807208"/>
            <a:ext cx="51206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2514600" y="2807208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Flask 页面路由 · REST API（14 组） · 异步任务队列（3 并发信号量）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831336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02920" y="3831336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AFAF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286000" y="3831336"/>
            <a:ext cx="51206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514600" y="3831336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目标校验 · 采集解析 · 指纹检测 ×7 · 验证引擎 · 情报关联 · 网络层 · 审计 · 爆破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855464"/>
            <a:ext cx="15544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02920" y="4855464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0" y="4855464"/>
            <a:ext cx="51206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514600" y="4855464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PostgreSQL 18：指纹库 / 漏洞情报 / KEV / CVE / 扫描结果 / 任务队列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680960" y="2148840"/>
            <a:ext cx="4023360" cy="2112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0" descr="D:/fengqiao/Desktop/26-08python实训/实训考核2/docs/build/img/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4" y="2203704"/>
            <a:ext cx="3913632" cy="200253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 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3.10 · Flask 3 · requests · BeautifulSoup4 · psycopg2 · PostgreSQL 18 · 零构建前端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CLASS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核心类关系：四大特性的一张图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6537960" cy="504551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D:/fengqiao/Desktop/26-08python实训/实训考核2/docs/build/img/clas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83080"/>
            <a:ext cx="6537960" cy="504551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09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封装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60920" y="235000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实体类私有属性 + 只读 property，仅两个受控写入点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6092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继承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60920" y="376732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BaseDetector 抽象模板方法，7 个子类各消费一类证据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360920" y="4800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多态 + 组合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60920" y="5184648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 detect() 接口；Engine 持有四大组件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DATABASE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数据库设计：九张表，知识库与结果分离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表名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categories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78 个检测类别字典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78 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technologies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自建精编指纹（六类规则 JSONB）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370 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tscan_fingerprints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社区表达式指纹（组内 AND、组间 OR）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2481 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service_fp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nmap 风格端口服务指纹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11966 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vuln_kb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漏洞情报（trgm 索引 + 版本区间 + 语义向量）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11024 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cve_ms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微软安全公告索引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34931 行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kev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CISA 在野利用清单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1695 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scans / scan_techs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扫描主表（JSONB）+ 技术明细（可检索）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随使用增长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jobs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异步任务队列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随使用增长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检索底座  </a:t>
            </a: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product 字段 trgm 模糊索引（GIN）+ 256 维语义向量余弦重排；全部字面量 SQL + 参数绑定。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OOP · 30分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面向对象设计：四大特性的真实落点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95528" y="19842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封装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031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models.py 全部实体类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258775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双下划线私有属性 + 只读 property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置信度随独立证据来源自动提升（受控写入）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10528" y="198424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继承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818120" y="2057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BaseDetector → 7 个子类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0528" y="258775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抽象模板方法 detect()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子类各消费一类证据：头/Cookie/meta/DOM/脚本/表达式/bundle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5528" y="41330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多态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1031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engine._run_detectors()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" y="47365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对检测器列表统一调用接口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新增检测器 = 新子类 + 注册一行，引擎零改动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510528" y="41330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818120" y="4206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ScannerEngine 组合根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10528" y="473659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持有 Fetcher/Crawler/Registry/VulnMatcher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Fetcher 内组合 RateLimiter 限速器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CRAWLER · 30分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爬虫技术：采集、解析与自我保护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0632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D:/fengqiao/Desktop/26-08python实训/实训考核2/docs/build/img/flow_fet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1920240"/>
            <a:ext cx="2843784" cy="2496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" y="4480560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采集与解析流程（自绘）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0480" y="1783080"/>
            <a:ext cx="78455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4114800" y="194767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937760" y="1901952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requests.Session 统一采集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38160" y="1901952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全局限速 0.4s · 超时重试 · UA 自报 SiteLens/1.0 · Cookie 会话注入支持认证扫描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0" y="2862072"/>
            <a:ext cx="78455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4114800" y="302666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4937760" y="2980944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BeautifulSoup 结构化解析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138160" y="2980944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meta / script / DOM 选择器 / CSS 类名 / favicon mmh3 哈希 → 结构化证据对象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840480" y="3941064"/>
            <a:ext cx="78455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4114800" y="410565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937760" y="4059936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同域 BFS 深度爬取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138160" y="4059936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最多 4 页合并证据，先解析 robots.txt 遵循 Disallow，子页面组件检出率显著提升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840480" y="5020056"/>
            <a:ext cx="78455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4114800" y="518464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4937760" y="5138928"/>
            <a:ext cx="3108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SSRF 防护（工具自身安全）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138160" y="5138928"/>
            <a:ext cx="3520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协议白名单 + 主机黑名单 + DNS 解析逐 IP 校验，拒绝内网/环回/保留地址与 DNS 重绑定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FINGERPRINT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核心模块：被动指纹识别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2850+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761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产品指纹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5468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154680" y="2761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检测类别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0644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806440" y="2761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检测器（多态）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58200" y="19202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&lt;1s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58200" y="276148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单页全量匹配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11183112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105430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证据驱动 + 规则数据化：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370 条自建精编指纹（JSONB 六类规则）+ 2481 条社区表达式指纹（组内 AND、组间 OR、!= 取反，导入期预解析）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多来源独立命中自动合并，置信度每来源 +5（上限 100）；版本号从响应头 / generator / 脚本文件名正则捕获</a:t>
            </a:r>
            <a:endParaRPr lang="en-US" sz="1300" dirty="0"/>
          </a:p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BundleDetector 补齐「打包进产物就消失」的框架：React / Vue / Framer Motion 等 15 种库签名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VERIFY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核心模块：验证型检测引擎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9552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MoE 式模板三路调度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56032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tag 硬匹配置顶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889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识别出 WordPress → WP 专项模板优先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34564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语义向量路由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78561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TF-IDF 哈希向量余弦排序（内容寻址）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5528" y="43525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轮转游标兜底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6817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无信号时轮转，2613 模板长期全覆盖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" y="5394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每轮仅激活 80 条模板 → 不做无差别空跑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1783080"/>
            <a:ext cx="525780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720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结论可信度设计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246888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只读无害：42 条自研 check 全部只读（.git 泄露 / 备份文件 / Actuator 暴露 / 目录列表…）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 404 基线：先请求随机不存在路径，与基线相同的响应直接跳过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二次确认：命中后立即重放，两次均命中才采信，排除 CDN 抖动假阳性</a:t>
            </a:r>
            <a:endParaRPr lang="en-US" sz="1250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附带轻量 DAST：反射 XSS 标记回显 / 报错型 SQLi / 开放重定向 / 目录遍历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VERIFY ·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MoE 式调度：让 2613 条模板各得其所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025396" y="1874520"/>
            <a:ext cx="8138160" cy="44416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D:/fengqiao/Desktop/26-08python实训/实训考核2/docs/build/img/mo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396" y="1874520"/>
            <a:ext cx="8138160" cy="44416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389273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识别出什么产品，就路由什么专项模板——不做无意义空跑，模板库长期轮转全覆盖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INTEL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核心模块：漏洞情报三级判定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549640" y="1828800"/>
            <a:ext cx="312724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D:/fengqiao/Desktop/26-08python实训/实训考核2/docs/build/img/verdi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4" y="1883664"/>
            <a:ext cx="3017520" cy="21122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828800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3152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确认受影响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31520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版本号落在 OSV 受影响区间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例：Next.js 13.5.1 → CVE-2025-29927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0" y="1828800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42900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可能受影响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3429000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同名组件但无版本号，仅提示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429000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不下结论，供人工跟进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897880" y="1828800"/>
            <a:ext cx="25146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6126480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不受影响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6126480" y="26517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有版本但落在区间外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126480" y="33375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直接过滤不输出，抑制误报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02920" y="4434840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数据底座：</a:t>
            </a:r>
            <a:r>
              <a:rPr lang="en-US" sz="13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11024 条漏洞情报 · 1323 条 OSV 版本区间 · 1695 条 CISA KEV 在野利用（命中红标） · 34931 行微软公告，24h 守护线程自动更新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02920" y="52120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语义化版本比较：支持 &gt;=8.3,&lt;8.3.7 / 2.x / * 全部区间形态；检索 = trgm 粗筛 + 向量余弦重排（亚秒级）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NETSEC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网络层检测：传输层与域名体系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检测项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判定条件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级别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证书过期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notAfter 早于当前时间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高危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证书临期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notAfter 距今不足 30 天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提醒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自签名证书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颁发者与主体相同且非受信 CA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高危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弱协议协商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可完成 SSLv3 / TLS1.0 握手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中危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邮件伪造风险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缺少 SPF/DMARC 或 p=none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中危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端口服务识别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 常见端口 banner + 最小 HTTP 探测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只读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35240" y="1783080"/>
            <a:ext cx="4023360" cy="42062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90956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轻触原则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09560" y="246888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每端口至多两次交互</a:t>
            </a:r>
            <a:endParaRPr lang="en-US" sz="1200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先静默读 banner，无响应才发最小探测</a:t>
            </a:r>
            <a:endParaRPr lang="en-US" sz="1200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子域名结果归位到组织主域评估</a:t>
            </a:r>
            <a:endParaRPr lang="en-US" sz="1200" dirty="0"/>
          </a:p>
          <a:p>
            <a:pPr marL="152400" indent="-152400">
              <a:lnSpc>
                <a:spcPts val="1800"/>
              </a:lnSpc>
              <a:spcAft>
                <a:spcPts val="1200"/>
              </a:spcAft>
              <a:buSzPct val="100000"/>
              <a:buChar char="▸"/>
            </a:pPr>
            <a:r>
              <a:rPr lang="en-US" sz="12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默认关闭，显式开启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11966 条 nmap 风格服务指纹用于端口识别；nslookup 输出按 GBK 逐段解析（已修复中文系统编码缺陷）。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AUDIT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源码审计：16 规则扫描 + 污点数据流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9552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污点分析数据流模型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46888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  不可信入口：input / request.args</a:t>
            </a:r>
            <a:endParaRPr lang="en-US" sz="12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/ request.form / cookies / sys.argv</a:t>
            </a:r>
            <a:endParaRPr lang="en-US" sz="12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SINKS     危险落点：执行类 / 反序列化类</a:t>
            </a:r>
            <a:endParaRPr lang="en-US" sz="12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/ 文件写入类</a:t>
            </a:r>
            <a:endParaRPr lang="en-US" sz="12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判定：source → 赋值/拼接 → sink</a:t>
            </a:r>
            <a:endParaRPr lang="en-US" sz="1200" dirty="0"/>
          </a:p>
          <a:p>
            <a:pPr marL="0" indent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即报告「污点数据流入危险函数」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2578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720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工程细节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46888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AST 级同函数赋值链追踪，比单行正则更接近真实数据流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条危险规则覆盖执行 / 反序列化 / 文件读取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支持源码文件与 zip 压缩包，tempfile 审计后即删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纯本地解析，代码不出机器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BRUTE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登录爆破：授权专属模块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86400" cy="356616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95528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机制设计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4688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宽容表单解析：兼容无 form 标签 / 字段无 name / 中文 placeholder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失败基线 + 响应差异判定命中，命中即停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每次尝试重载登录页刷新验证码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验证码字段自动检测（captcha / verif / code）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总请求数硬性封顶 300 次</a:t>
            </a:r>
            <a:endParaRPr lang="en-US" sz="1250" dirty="0"/>
          </a:p>
          <a:p>
            <a:pPr marL="152400" indent="-152400">
              <a:lnSpc>
                <a:spcPts val="19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OCR 本地推理，全程不联网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1783080"/>
            <a:ext cx="525780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7208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验证码分级（本地 OCR）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25146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 / 算式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2084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OCR + 四则运算求值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20840" y="32918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点选式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2084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检测框坐标定位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20840" y="4069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滑块式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20840" y="4389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缺口偏移量（如实标注边界）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20840" y="5257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授权门禁：未勾选书面授权声明，模块无法启动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WORKBENCH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 工作台：每个功能都有页面承载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7724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首页 /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0040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输入直达扫描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92240" y="1874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扫描工作台 /app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1540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 / 会话 / 实时面板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07208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7240" y="2898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源码审计 /audit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00400" y="2898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拖拽上传审计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2807208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92240" y="2898648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批量扫描 /batch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915400" y="289864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站点队列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831336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77240" y="392277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扫描历史 /history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0" y="3922776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详情 + diff + 导出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17920" y="3831336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92240" y="3922776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情报库 /intel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915400" y="3922776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模糊 + 语义检索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855464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77240" y="49469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文档 /api-docs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200400" y="4946904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组接口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7920" y="4855464"/>
            <a:ext cx="54406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492240" y="4946904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产品介绍 /about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915400" y="4946904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能力总览与署名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导出四格式  </a:t>
            </a: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JSON（全量归档）· 明细 CSV · 78 列宽表 CSV（资产台账）· 单文件 HTML 报告（离线交付）；Token 鉴权的 REST API 可脚本集成。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与同类工具的关系：串成流水线，而非重复造轮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维度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SiteLens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Nuclei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Wappalyzer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82F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商业扫描器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技术指纹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2850 产品 · 78 类别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3000+ 技术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有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漏洞验证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模板路由 + 无害检测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7000+ 模板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完整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漏洞情报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三级判定 + KEV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部分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网络层检测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TLS / SPF / 端口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完整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源码审计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规则 + 污点分析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无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数据归属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本地 PostgreSQL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云服务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云 / 授权码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价格</a:t>
                      </a:r>
                      <a:endParaRPr lang="en-US" sz="11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免费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免费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付费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$$$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89788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定位：验证环节与 Nuclei 生态兼容（2613 条模板），差异化在指纹、情报与资产沉淀——站在巨人肩上，而非重复造轮。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系统测试：三层验证体系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49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8986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项单元 / 集成测试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unittest 离线可重复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78308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355848" y="2057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355848" y="28986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 API 冒烟测试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38728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 / 参数 / 边界 / 导出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178308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208776" y="2057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208776" y="28986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项真实站点识别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91656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演示站点全面识别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61704" y="1783080"/>
            <a:ext cx="26060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061704" y="2057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061704" y="2898648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项靶场回归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44584" y="3246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 100% · 干净站零误报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4251960"/>
            <a:ext cx="1118311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22960" y="448056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测试发现并修复的真实问题：</a:t>
            </a:r>
            <a:endParaRPr lang="en-US" sz="1300" dirty="0"/>
          </a:p>
          <a:p>
            <a:pPr marL="0" indent="0">
              <a:lnSpc>
                <a:spcPts val="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扫描级扩展信息被子模块覆盖 → 报告缺项 · 嵌于 Next.js 流式载荷中的内联组件漏检（补 body 正则指纹）· 中文 Windows nslookup 编码不一致 → 邮件安全误报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3" presetClass="entr" presetSubtype="16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安全工具的纪律：合规内建于代码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95528" y="2002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SSRF 防护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788920" y="2075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 解析后逐 IP 校验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2651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扫描器自身不会被当成访问内网的跳板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510528" y="200253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礼貌访问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503920" y="20756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0.4s 限速 · UA 自报 · robots 遵循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10528" y="2651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对目标的压力可控、行为可识别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93192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5528" y="41513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POC 不落盘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788920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导入期即丢弃 rules / payload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5528" y="4800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只做情报关联，不执行攻击载荷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931920"/>
            <a:ext cx="544068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510528" y="41513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授权门禁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503920" y="422452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登录爆破独立模块 + 授权声明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10528" y="48006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高危能力默认关、显式确认才可用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ACKNOWLEDGEMENT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站在开源社区的肩膀上（数据来源署名）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8952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Nuclei Templates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395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2613 条验证模板  </a:t>
            </a: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645152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TscanPlus 指纹库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5152" y="2395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2481 条表达式指纹  </a:t>
            </a: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社区开源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75320" y="1828800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531352" y="19933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OSV.dev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31352" y="23957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1188+ 条版本区间  </a:t>
            </a: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Apache-2.0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200400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58952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CISA KEV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8952" y="3767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1695 条在野利用  </a:t>
            </a: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官方 JSON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0" y="3200400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645152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afrog / xray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45152" y="3767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POC 元数据（载荷不执行）  </a:t>
            </a: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开源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75320" y="3200400"/>
            <a:ext cx="361188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531352" y="336499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微软安全公告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531352" y="37673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22133 个 CVE 索引  </a:t>
            </a:r>
            <a:r>
              <a:rPr lang="en-US" sz="11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公开数据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51206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所有数据来源均在报告与系统内署名；GB7714 参考文献清单见实训报告第 41 页。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总结与展望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118311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 · 面向对象程序设计实训答辩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48640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95528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做到了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5528" y="24231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面向对象结构清晰：三次能力升级引擎零改动</a:t>
            </a:r>
            <a:endParaRPr lang="en-US" sz="1300" dirty="0"/>
          </a:p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「指纹 → 验证 → 情报」全链路完整，三级判定控制误报</a:t>
            </a:r>
            <a:endParaRPr lang="en-US" sz="1300" dirty="0"/>
          </a:p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工程化程度高：异步任务 / 批量 / diff / 四格式导出 / Token API</a:t>
            </a:r>
            <a:endParaRPr lang="en-US" sz="1300" dirty="0"/>
          </a:p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真实可用：数据全在本地 PG，非演示玩具</a:t>
            </a:r>
            <a:endParaRPr lang="en-US" sz="1300" dirty="0"/>
          </a:p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材料齐备：46 页报告 / 25 页答辩 PPT / 全套测试证据</a:t>
            </a:r>
            <a:endParaRPr lang="en-US" sz="1300" dirty="0"/>
          </a:p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开源来源全部署名，合规可查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94960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5400000" algn="bl" rotWithShape="0">
              <a:srgbClr val="333333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58368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770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不足与改进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242316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吞吐量与 Go 系引擎有量级差距 → 模板请求按 path 聚类提速</a:t>
            </a:r>
            <a:endParaRPr lang="en-US" sz="1300" dirty="0"/>
          </a:p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requests 栈检不出需浏览器渲染的组件 → 明确的能力边界</a:t>
            </a:r>
            <a:endParaRPr lang="en-US" sz="1300" dirty="0"/>
          </a:p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OOB 回连，盲注类检不出 → 计划自托管轻量回调服务</a:t>
            </a:r>
            <a:endParaRPr lang="en-US" sz="1300" dirty="0"/>
          </a:p>
          <a:p>
            <a:pPr marL="152400" indent="-152400">
              <a:lnSpc>
                <a:spcPts val="1900"/>
              </a:lnSpc>
              <a:spcAft>
                <a:spcPts val="1300"/>
              </a:spcAft>
              <a:buSzPct val="100000"/>
              <a:buChar char="▸"/>
            </a:pPr>
            <a:r>
              <a:rPr lang="en-US" sz="1300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验证引擎计划增加 extractor，抽取版本回灌情报判定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恳请各位老师批评指正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474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现场演示环节：扫描工作台 · 指纹识别 · 已验证漏洞 · 情报三级判定 · 源码审计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5760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sitelens</a:t>
            </a: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· 信息工程学院 · 信息安全 2025 级（25 信安 1 班） · 组长 王振宇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 thruBlk="1"/>
      </p:transition>
    </mc:Choice>
    <mc:Fallback xmlns="">
      <p:transition spd="med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2298</Words>
  <Application>Microsoft Office PowerPoint</Application>
  <PresentationFormat>宽屏</PresentationFormat>
  <Paragraphs>461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等线</vt:lpstr>
      <vt:lpstr>微软雅黑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SiteLens 网站安全透视系统 — 面向对象程序设计实训答辩</dc:title>
  <dc:subject>PptxGenJS Presentation</dc:subject>
  <dc:creator>SiteLens</dc:creator>
  <cp:lastModifiedBy>fengqiao</cp:lastModifiedBy>
  <cp:revision>3</cp:revision>
  <dcterms:created xsi:type="dcterms:W3CDTF">2026-09-06T10:34:40Z</dcterms:created>
  <dcterms:modified xsi:type="dcterms:W3CDTF">2026-09-06T10:39:28Z</dcterms:modified>
</cp:coreProperties>
</file>